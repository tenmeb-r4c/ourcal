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326808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0"/>
            <a:ext cx="10972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OurCal</a:t>
            </a:r>
            <a:endParaRPr lang="en-US" sz="8000" dirty="0"/>
          </a:p>
        </p:txBody>
      </p:sp>
      <p:sp>
        <p:nvSpPr>
          <p:cNvPr id="3" name="Text 1"/>
          <p:cNvSpPr/>
          <p:nvPr/>
        </p:nvSpPr>
        <p:spPr>
          <a:xfrm>
            <a:off x="640080" y="35661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i="1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Collaborative Group Calendar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0080" y="4297680"/>
            <a:ext cx="1371600" cy="0"/>
          </a:xfrm>
          <a:prstGeom prst="line">
            <a:avLst/>
          </a:prstGeom>
          <a:noFill/>
          <a:ln w="38100">
            <a:solidFill>
              <a:srgbClr val="E07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44805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SWE 5063 * Final Project * Group 2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50292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FE9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Bemnet Weldemeskel  ·  Subat Amin  ·  Timothy Cox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10515600" y="50292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scheduling today is fragmented.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2377440"/>
            <a:ext cx="3566160" cy="3383280"/>
          </a:xfrm>
          <a:prstGeom prst="roundRect">
            <a:avLst>
              <a:gd name="adj" fmla="val 4054"/>
            </a:avLst>
          </a:prstGeom>
          <a:solidFill>
            <a:srgbClr val="EFE9DF"/>
          </a:solidFill>
          <a:ln w="12700">
            <a:solidFill>
              <a:srgbClr val="EFE9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31520" y="260604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dirty="0">
                <a:solidFill>
                  <a:srgbClr val="000000"/>
                </a:solidFill>
              </a:rPr>
              <a:t>📱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822960" y="352044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platforms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4023360"/>
            <a:ext cx="32004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Texts, emails, group chats, three different apps just to set a meeting time.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89120" y="2377440"/>
            <a:ext cx="3566160" cy="3383280"/>
          </a:xfrm>
          <a:prstGeom prst="roundRect">
            <a:avLst>
              <a:gd name="adj" fmla="val 4054"/>
            </a:avLst>
          </a:prstGeom>
          <a:solidFill>
            <a:srgbClr val="EFE9DF"/>
          </a:solidFill>
          <a:ln w="12700">
            <a:solidFill>
              <a:srgbClr val="EFE9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572000" y="260604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dirty="0">
                <a:solidFill>
                  <a:srgbClr val="000000"/>
                </a:solidFill>
              </a:rPr>
              <a:t>🔄</a:t>
            </a:r>
            <a:endParaRPr lang="en-US" sz="4200" dirty="0"/>
          </a:p>
        </p:txBody>
      </p:sp>
      <p:sp>
        <p:nvSpPr>
          <p:cNvPr id="11" name="Text 9"/>
          <p:cNvSpPr/>
          <p:nvPr/>
        </p:nvSpPr>
        <p:spPr>
          <a:xfrm>
            <a:off x="4663440" y="352044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real-time updates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663440" y="4023360"/>
            <a:ext cx="32004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one person's plan changes, the others find out only when they ask.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229600" y="2377440"/>
            <a:ext cx="3566160" cy="3383280"/>
          </a:xfrm>
          <a:prstGeom prst="roundRect">
            <a:avLst>
              <a:gd name="adj" fmla="val 4054"/>
            </a:avLst>
          </a:prstGeom>
          <a:solidFill>
            <a:srgbClr val="EFE9DF"/>
          </a:solidFill>
          <a:ln w="12700">
            <a:solidFill>
              <a:srgbClr val="EFE9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412480" y="260604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dirty="0">
                <a:solidFill>
                  <a:srgbClr val="000000"/>
                </a:solidFill>
              </a:rPr>
              <a:t>❌</a:t>
            </a:r>
            <a:endParaRPr lang="en-US" sz="4200" dirty="0"/>
          </a:p>
        </p:txBody>
      </p:sp>
      <p:sp>
        <p:nvSpPr>
          <p:cNvPr id="15" name="Text 13"/>
          <p:cNvSpPr/>
          <p:nvPr/>
        </p:nvSpPr>
        <p:spPr>
          <a:xfrm>
            <a:off x="8503920" y="352044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Missed events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503920" y="4023360"/>
            <a:ext cx="32004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coordination leads to double-bookings, no-shows, and forgotten activities.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Solution: OurCal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10515600" y="50292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centralized web app for group scheduling.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48640" y="2194560"/>
            <a:ext cx="640080" cy="64008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21945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463040" y="219456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463040" y="2743200"/>
            <a:ext cx="45720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private or shared events with locations, categories, and tags.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17920" y="2194560"/>
            <a:ext cx="640080" cy="64008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217920" y="21945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7132320" y="219456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Groups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7132320" y="2743200"/>
            <a:ext cx="45720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teams. Three roles: Admin, Moderator, Member: each with different powers.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4206240"/>
            <a:ext cx="640080" cy="64008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48640" y="42062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463040" y="42062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Invites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463040" y="4754880"/>
            <a:ext cx="45720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event invitations or group-join requests. Accept or decline in one click.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217920" y="4206240"/>
            <a:ext cx="640080" cy="64008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217920" y="42062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7132320" y="42062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Profiles &amp; Settings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7132320" y="4754880"/>
            <a:ext cx="45720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Per-user profile, status message, and customizable background color.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Built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10515600" y="50292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numbers.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2697480" cy="1737360"/>
          </a:xfrm>
          <a:prstGeom prst="roundRect">
            <a:avLst>
              <a:gd name="adj" fmla="val 5263"/>
            </a:avLst>
          </a:prstGeom>
          <a:solidFill>
            <a:srgbClr val="F5F0EB"/>
          </a:solidFill>
          <a:ln w="12700">
            <a:solidFill>
              <a:srgbClr val="EFE9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2148840"/>
            <a:ext cx="2697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548640" y="3291840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tables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29000" y="2103120"/>
            <a:ext cx="2697480" cy="1737360"/>
          </a:xfrm>
          <a:prstGeom prst="roundRect">
            <a:avLst>
              <a:gd name="adj" fmla="val 5263"/>
            </a:avLst>
          </a:prstGeom>
          <a:solidFill>
            <a:srgbClr val="F5F0EB"/>
          </a:solidFill>
          <a:ln w="12700">
            <a:solidFill>
              <a:srgbClr val="EFE9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429000" y="2148840"/>
            <a:ext cx="2697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5400" dirty="0"/>
          </a:p>
        </p:txBody>
      </p:sp>
      <p:sp>
        <p:nvSpPr>
          <p:cNvPr id="10" name="Text 8"/>
          <p:cNvSpPr/>
          <p:nvPr/>
        </p:nvSpPr>
        <p:spPr>
          <a:xfrm>
            <a:off x="3429000" y="3291840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PHP pages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309360" y="2103120"/>
            <a:ext cx="2697480" cy="1737360"/>
          </a:xfrm>
          <a:prstGeom prst="roundRect">
            <a:avLst>
              <a:gd name="adj" fmla="val 5263"/>
            </a:avLst>
          </a:prstGeom>
          <a:solidFill>
            <a:srgbClr val="F5F0EB"/>
          </a:solidFill>
          <a:ln w="12700">
            <a:solidFill>
              <a:srgbClr val="EFE9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309360" y="2148840"/>
            <a:ext cx="2697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5400" dirty="0"/>
          </a:p>
        </p:txBody>
      </p:sp>
      <p:sp>
        <p:nvSpPr>
          <p:cNvPr id="13" name="Text 11"/>
          <p:cNvSpPr/>
          <p:nvPr/>
        </p:nvSpPr>
        <p:spPr>
          <a:xfrm>
            <a:off x="6309360" y="3291840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ops + extras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89720" y="2103120"/>
            <a:ext cx="2697480" cy="1737360"/>
          </a:xfrm>
          <a:prstGeom prst="roundRect">
            <a:avLst>
              <a:gd name="adj" fmla="val 5263"/>
            </a:avLst>
          </a:prstGeom>
          <a:solidFill>
            <a:srgbClr val="F5F0EB"/>
          </a:solidFill>
          <a:ln w="12700">
            <a:solidFill>
              <a:srgbClr val="EFE9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9189720" y="2148840"/>
            <a:ext cx="2697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5400" dirty="0"/>
          </a:p>
        </p:txBody>
      </p:sp>
      <p:sp>
        <p:nvSpPr>
          <p:cNvPr id="16" name="Text 14"/>
          <p:cNvSpPr/>
          <p:nvPr/>
        </p:nvSpPr>
        <p:spPr>
          <a:xfrm>
            <a:off x="9189720" y="3291840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Deployments (local + cloud)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48640" y="42062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the initial phases, we added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40080" y="4663440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D8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05840" y="466344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events in a pre-filled modal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309360" y="4663440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D8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675120" y="466344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Kick-out members with role-based permissions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40080" y="5166360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D8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005840" y="516636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member roles (Admin → Mod → Member)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309360" y="5166360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D8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675120" y="516636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Per-user background color (saved in DB)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40080" y="5669280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D8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005840" y="566928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 picture URL with initials fallback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309360" y="5669280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D8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675120" y="566928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view with read-only platform overview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Design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10515600" y="50292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tables, designed from an EER model in Phase 2.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3566160" cy="1554480"/>
          </a:xfrm>
          <a:prstGeom prst="roundRect">
            <a:avLst>
              <a:gd name="adj" fmla="val 5882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77240" y="219456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(8)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77240" y="269748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User, Group, Event, Invite, Category, Location, Profile, AccountSetting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103120"/>
            <a:ext cx="3566160" cy="1554480"/>
          </a:xfrm>
          <a:prstGeom prst="roundRect">
            <a:avLst>
              <a:gd name="adj" fmla="val 5882"/>
            </a:avLst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617720" y="219456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(4)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617720" y="269748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Profile, AccountSetting, Reminder, Availability: depend on a parent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229600" y="2103120"/>
            <a:ext cx="3566160" cy="1554480"/>
          </a:xfrm>
          <a:prstGeom prst="roundRect">
            <a:avLst>
              <a:gd name="adj" fmla="val 5882"/>
            </a:avLst>
          </a:prstGeom>
          <a:solidFill>
            <a:srgbClr val="3D8B7A"/>
          </a:solidFill>
          <a:ln w="12700">
            <a:solidFill>
              <a:srgbClr val="3D8B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458200" y="219456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Associative (1)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458200" y="269748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Membership: connects User and Group, holds the role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48640" y="4023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highlights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0080" y="45262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914400" y="452628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Subclasses: </a:t>
            </a: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→ StandardUser / Admin · Event → PrivateEvent / SharedEvent (disjoint, total)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0080" y="481888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14400" y="4818888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ENUM constraints: </a:t>
            </a: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Role, InviteType, AccountStatus enforced at the database level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0080" y="511149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914400" y="5111496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Multivalued attributes: </a:t>
            </a: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 numbers, addresses, tags split into their own tables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40080" y="5404104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14400" y="5404104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Cascade deletes: </a:t>
            </a: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foreign keys with ON DELETE CASCADE keep the database consistent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40080" y="569671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914400" y="5696712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data: </a:t>
            </a: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users, 5 groups, 5 events, 5 invites: enough to demo every feature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Technologies Used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10515600" y="50292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each piece fits into the project.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1645920" cy="502920"/>
          </a:xfrm>
          <a:prstGeom prst="roundRect">
            <a:avLst>
              <a:gd name="adj" fmla="val 9091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187452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377440" y="1911096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structure: forms, tables, modals, navigation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468880"/>
            <a:ext cx="1645920" cy="502920"/>
          </a:xfrm>
          <a:prstGeom prst="roundRect">
            <a:avLst>
              <a:gd name="adj" fmla="val 9091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48640" y="246888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CSS3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377440" y="2505456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styling: transitions, transforms, gradients, Flexbox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3063240"/>
            <a:ext cx="1645920" cy="502920"/>
          </a:xfrm>
          <a:prstGeom prst="roundRect">
            <a:avLst>
              <a:gd name="adj" fmla="val 9091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48640" y="306324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377440" y="3099816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grid, navbar toggler, modals, badges (4.6.1 via CDN)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3657600"/>
            <a:ext cx="1645920" cy="502920"/>
          </a:xfrm>
          <a:prstGeom prst="roundRect">
            <a:avLst>
              <a:gd name="adj" fmla="val 9091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48640" y="365760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377440" y="3694176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toggles, confirm dialogs, image fallback handlers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4251960"/>
            <a:ext cx="1645920" cy="502920"/>
          </a:xfrm>
          <a:prstGeom prst="roundRect">
            <a:avLst>
              <a:gd name="adj" fmla="val 9091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48640" y="425196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jQuery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2377440" y="4288536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Triggers Bootstrap modals (minimal use)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4846320"/>
            <a:ext cx="1645920" cy="502920"/>
          </a:xfrm>
          <a:prstGeom prst="roundRect">
            <a:avLst>
              <a:gd name="adj" fmla="val 9091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48640" y="484632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2377440" y="4882896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Server-side: database queries, form handling, page rendering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48640" y="5440680"/>
            <a:ext cx="1645920" cy="502920"/>
          </a:xfrm>
          <a:prstGeom prst="roundRect">
            <a:avLst>
              <a:gd name="adj" fmla="val 9091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48640" y="544068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2377440" y="5477256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CREATE, INSERT, SELECT with JOINs, UPDATE, DELETE, LIKE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· Add · Delete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10515600" y="50292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three required operations: implemented across every page.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137160" cy="1280160"/>
          </a:xfrm>
          <a:prstGeom prst="rect">
            <a:avLst/>
          </a:prstGeom>
          <a:solidFill>
            <a:srgbClr val="3D8B7A"/>
          </a:solidFill>
          <a:ln w="12700">
            <a:solidFill>
              <a:srgbClr val="3D8B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68680" y="17830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3D8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68680" y="224028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… WHERE Title LIKE '%keyword%'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68680" y="2624328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Events, Groups, Invites — every list page has its own search bar.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3246120"/>
            <a:ext cx="137160" cy="1280160"/>
          </a:xfrm>
          <a:prstGeom prst="rect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68680" y="32461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868680" y="37033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INSERT INTO Event (...) VALUES (?, ?, ...)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68680" y="4087368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Modal forms with prepared statements — safe from SQL injection.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4709160"/>
            <a:ext cx="137160" cy="12801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68680" y="47091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868680" y="51663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DELETE FROM Event WHERE EventID = ?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68680" y="5550408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dialog first; foreign keys cascade to clean up related rows.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5943600"/>
            <a:ext cx="11064240" cy="640080"/>
          </a:xfrm>
          <a:prstGeom prst="roundRect">
            <a:avLst>
              <a:gd name="adj" fmla="val 14286"/>
            </a:avLst>
          </a:prstGeom>
          <a:solidFill>
            <a:srgbClr val="F5F0EB"/>
          </a:solidFill>
          <a:ln w="19050">
            <a:solidFill>
              <a:srgbClr val="E07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48640" y="594360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we have updated(added) on our final phase: </a:t>
            </a: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· Kick Out · Change Role · Accept/Decline invites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Design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10515600" y="50292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codebase, three layouts. The site adapts to whatever device opens it.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3566160" cy="3657600"/>
          </a:xfrm>
          <a:prstGeom prst="roundRect">
            <a:avLst>
              <a:gd name="adj" fmla="val 2564"/>
            </a:avLst>
          </a:prstGeom>
          <a:solidFill>
            <a:srgbClr val="F5F0EB"/>
          </a:solidFill>
          <a:ln w="12700">
            <a:solidFill>
              <a:srgbClr val="EFE9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219456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Mobile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48640" y="274320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576px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324612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Hamburger navbar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0" y="3630168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2x2 dashboard tiles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14400" y="4014216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Stacked form fields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14400" y="4398264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Scrollable tables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389120" y="2011680"/>
            <a:ext cx="3566160" cy="3657600"/>
          </a:xfrm>
          <a:prstGeom prst="roundRect">
            <a:avLst>
              <a:gd name="adj" fmla="val 2564"/>
            </a:avLst>
          </a:prstGeom>
          <a:solidFill>
            <a:srgbClr val="F5F0EB"/>
          </a:solidFill>
          <a:ln w="12700">
            <a:solidFill>
              <a:srgbClr val="EFE9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389120" y="219456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💻 Tablet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389120" y="274320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576 – 991px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754880" y="324612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Compact navbar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754880" y="3630168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2x2 tiles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754880" y="4014216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Two-column forms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754880" y="4398264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Wider tables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229600" y="2011680"/>
            <a:ext cx="3566160" cy="3657600"/>
          </a:xfrm>
          <a:prstGeom prst="roundRect">
            <a:avLst>
              <a:gd name="adj" fmla="val 2564"/>
            </a:avLst>
          </a:prstGeom>
          <a:solidFill>
            <a:srgbClr val="F5F0EB"/>
          </a:solidFill>
          <a:ln w="12700">
            <a:solidFill>
              <a:srgbClr val="EFE9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8229600" y="219456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🖥️ Desktop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8229600" y="274320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992px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595360" y="324612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Full horizontal navbar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595360" y="3630168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2x2 tiles, large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595360" y="4014216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Multi-column layouts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595360" y="4398264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Full-width tables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48640" y="59436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with: Bootstrap responsive grid · CSS @media queries · Flexbox sticky footer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Development: XAMPP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10515600" y="50292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+ MariaDB + PHP, all installed in one click.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5486400" cy="3840480"/>
          </a:xfrm>
          <a:prstGeom prst="roundRect">
            <a:avLst>
              <a:gd name="adj" fmla="val 3571"/>
            </a:avLst>
          </a:prstGeom>
          <a:solidFill>
            <a:srgbClr val="F5F0EB"/>
          </a:solidFill>
          <a:ln w="254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22402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LAPTOP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914400" y="2743200"/>
            <a:ext cx="475488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25400">
            <a:solidFill>
              <a:srgbClr val="E07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097280" y="278892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3291840" y="278892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Serves your pages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914400" y="3703320"/>
            <a:ext cx="475488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25400">
            <a:solidFill>
              <a:srgbClr val="E07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097280" y="374904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291840" y="374904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the server-side code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914400" y="4663440"/>
            <a:ext cx="475488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25400">
            <a:solidFill>
              <a:srgbClr val="E07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097280" y="470916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MariaDB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291840" y="470916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your data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583680" y="21031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6583680" y="2743200"/>
            <a:ext cx="365760" cy="36576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583680" y="27432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086600" y="27889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the project folder into C:\xampp\htdocs\ourcal\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583680" y="3520440"/>
            <a:ext cx="365760" cy="36576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583680" y="3520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086600" y="35661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Apache + MariaDB in the XAMPP control panel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583680" y="4297680"/>
            <a:ext cx="365760" cy="36576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583680" y="42976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086600" y="43434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phpMyAdmin → Import → select the .sql file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583680" y="5074920"/>
            <a:ext cx="365760" cy="36576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583680" y="50749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7086600" y="51206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 http://localhost/ourcal/ in any browser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Deployment: AWS (Bonus)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10515600" y="50292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project, hosted publicly on Amazon Web Services.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2743200"/>
            <a:ext cx="1371600" cy="1371600"/>
          </a:xfrm>
          <a:prstGeom prst="ellipse">
            <a:avLst/>
          </a:prstGeom>
          <a:solidFill>
            <a:srgbClr val="EFE9DF"/>
          </a:solidFill>
          <a:ln w="254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48640" y="2788920"/>
            <a:ext cx="1371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👤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548640" y="37033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103120" y="3246120"/>
            <a:ext cx="914400" cy="365760"/>
          </a:xfrm>
          <a:prstGeom prst="rightArrow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103120" y="28803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00400" y="2468880"/>
            <a:ext cx="3200400" cy="1920240"/>
          </a:xfrm>
          <a:prstGeom prst="roundRect">
            <a:avLst>
              <a:gd name="adj" fmla="val 4762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200400" y="26060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EC2 Instance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200400" y="29718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FE9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Ubuntu 26.04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383280" y="3337560"/>
            <a:ext cx="2834640" cy="411480"/>
          </a:xfrm>
          <a:prstGeom prst="roundRect">
            <a:avLst>
              <a:gd name="adj" fmla="val 11111"/>
            </a:avLst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383280" y="3337560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+ PHP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200400" y="38862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EFE9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t2.micro · Free tier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583680" y="3246120"/>
            <a:ext cx="914400" cy="365760"/>
          </a:xfrm>
          <a:prstGeom prst="rightArrow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583680" y="28803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583680" y="3657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3306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680960" y="2468880"/>
            <a:ext cx="3200400" cy="1920240"/>
          </a:xfrm>
          <a:prstGeom prst="roundRect">
            <a:avLst>
              <a:gd name="adj" fmla="val 4762"/>
            </a:avLst>
          </a:prstGeom>
          <a:solidFill>
            <a:srgbClr val="3D8B7A"/>
          </a:solidFill>
          <a:ln w="12700">
            <a:solidFill>
              <a:srgbClr val="3D8B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680960" y="26060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RDS Database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680960" y="29718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FE9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8.4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863840" y="3337560"/>
            <a:ext cx="2834640" cy="411480"/>
          </a:xfrm>
          <a:prstGeom prst="roundRect">
            <a:avLst>
              <a:gd name="adj" fmla="val 11111"/>
            </a:avLst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7863840" y="3337560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OurCal Schema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680960" y="38862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EFE9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db.t3.micro · Free tier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40080" y="4754880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D8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005840" y="475488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RDS MySQL instance, imported the .sql file via MySQL Workbench.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40080" y="5138928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D8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005840" y="5138928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Launched EC2, SSH'd in, installed Apache + PHP with apt.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40080" y="5522976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D8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1005840" y="5522976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Uploaded code with scp, pointed db_config.php at the RDS endpoint, opened security group rules.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48640" y="62179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at http://3.208.9.107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37744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8000" dirty="0"/>
          </a:p>
        </p:txBody>
      </p:sp>
      <p:sp>
        <p:nvSpPr>
          <p:cNvPr id="3" name="Shape 1"/>
          <p:cNvSpPr/>
          <p:nvPr/>
        </p:nvSpPr>
        <p:spPr>
          <a:xfrm>
            <a:off x="4937760" y="3840480"/>
            <a:ext cx="2286000" cy="0"/>
          </a:xfrm>
          <a:prstGeom prst="line">
            <a:avLst/>
          </a:prstGeom>
          <a:noFill/>
          <a:ln w="38100">
            <a:solidFill>
              <a:srgbClr val="E07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" y="4023360"/>
            <a:ext cx="119044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i="1" dirty="0">
                <a:solidFill>
                  <a:srgbClr val="EFE9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Walking through OurCal in real time: Creating Group, Event, Invitation, Interaction Between Users and others </a:t>
            </a:r>
          </a:p>
          <a:p>
            <a:pPr marL="0" indent="0" algn="ctr">
              <a:buNone/>
            </a:pPr>
            <a:endParaRPr lang="en-US" sz="2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194560"/>
            <a:ext cx="10972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7200" dirty="0"/>
          </a:p>
        </p:txBody>
      </p:sp>
      <p:sp>
        <p:nvSpPr>
          <p:cNvPr id="3" name="Shape 1"/>
          <p:cNvSpPr/>
          <p:nvPr/>
        </p:nvSpPr>
        <p:spPr>
          <a:xfrm>
            <a:off x="5212080" y="3611880"/>
            <a:ext cx="1828800" cy="0"/>
          </a:xfrm>
          <a:prstGeom prst="line">
            <a:avLst/>
          </a:prstGeom>
          <a:noFill/>
          <a:ln w="38100">
            <a:solidFill>
              <a:srgbClr val="E07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50292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EFE9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OurCal · SWE 5063 Final Project · Group 2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5440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FE9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Bemnet Weldemeskel  ·  Subat Amin  ·  Timothy Cox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414</TotalTime>
  <Words>913</Words>
  <Application>Microsoft Office PowerPoint</Application>
  <PresentationFormat>Widescreen</PresentationFormat>
  <Paragraphs>187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OurCal — Final Project Presentation</dc:title>
  <dc:subject>PptxGenJS Presentation</dc:subject>
  <dc:creator>PptxGenJS</dc:creator>
  <cp:lastModifiedBy>Bemnet Weldemeskel</cp:lastModifiedBy>
  <cp:revision>2</cp:revision>
  <dcterms:created xsi:type="dcterms:W3CDTF">2026-04-29T06:57:31Z</dcterms:created>
  <dcterms:modified xsi:type="dcterms:W3CDTF">2026-04-29T21:23:20Z</dcterms:modified>
</cp:coreProperties>
</file>